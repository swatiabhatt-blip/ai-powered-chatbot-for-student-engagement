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7" r:id="rId5"/>
    <p:sldId id="258" r:id="rId6"/>
    <p:sldId id="269" r:id="rId7"/>
    <p:sldId id="270" r:id="rId8"/>
    <p:sldId id="259" r:id="rId9"/>
    <p:sldId id="260" r:id="rId10"/>
    <p:sldId id="271" r:id="rId11"/>
    <p:sldId id="261" r:id="rId12"/>
    <p:sldId id="262" r:id="rId13"/>
    <p:sldId id="263" r:id="rId14"/>
    <p:sldId id="264" r:id="rId15"/>
    <p:sldId id="265" r:id="rId16"/>
    <p:sldId id="272" r:id="rId17"/>
    <p:sldId id="266" r:id="rId18"/>
  </p:sldIdLst>
  <p:sldSz cx="9144000" cy="5143500" type="screen16x9"/>
  <p:notesSz cx="5143500" cy="9144000"/>
  <p:custDataLst>
    <p:tags r:id="rId2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2" userDrawn="1">
          <p15:clr>
            <a:srgbClr val="A4A3A4"/>
          </p15:clr>
        </p15:guide>
        <p15:guide id="2" orient="horz" pos="851" userDrawn="1">
          <p15:clr>
            <a:srgbClr val="A4A3A4"/>
          </p15:clr>
        </p15:guide>
        <p15:guide id="3" pos="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13" d="100"/>
          <a:sy n="113" d="100"/>
        </p:scale>
        <p:origin x="586" y="86"/>
      </p:cViewPr>
      <p:guideLst>
        <p:guide orient="horz" pos="662"/>
        <p:guide orient="horz" pos="851"/>
        <p:guide pos="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3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8"/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8" name="Picture 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sv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/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/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/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/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5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  <a:endParaRPr lang="en-US" sz="1400" b="1" spc="583" dirty="0">
                <a:solidFill>
                  <a:srgbClr val="FFFFFF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929667" y="4348257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pic>
        <p:nvPicPr>
          <p:cNvPr id="50" name="Picture 49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757" t="2453" r="27842" b="53701"/>
          <a:stretch>
            <a:fillRect/>
          </a:stretch>
        </p:blipFill>
        <p:spPr>
          <a:xfrm>
            <a:off x="4502536" y="4253148"/>
            <a:ext cx="395331" cy="38179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628833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539181" y="4495559"/>
            <a:ext cx="2272871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bhattswaty@gmail.com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859" t="52379" r="26874" b="2349"/>
          <a:stretch>
            <a:fillRect/>
          </a:stretch>
        </p:blipFill>
        <p:spPr>
          <a:xfrm>
            <a:off x="2141340" y="4235613"/>
            <a:ext cx="398279" cy="389719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447709" y="4354221"/>
            <a:ext cx="2272871" cy="421299"/>
            <a:chOff x="3139699" y="4185427"/>
            <a:chExt cx="2272871" cy="421299"/>
          </a:xfrm>
        </p:grpSpPr>
        <p:sp>
          <p:nvSpPr>
            <p:cNvPr id="67" name="TextBox 41"/>
            <p:cNvSpPr txBox="1"/>
            <p:nvPr/>
          </p:nvSpPr>
          <p:spPr>
            <a:xfrm>
              <a:off x="3164464" y="4185427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5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/>
            <p:cNvSpPr txBox="1"/>
            <p:nvPr/>
          </p:nvSpPr>
          <p:spPr>
            <a:xfrm>
              <a:off x="3139699" y="4345741"/>
              <a:ext cx="2272871" cy="260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0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Maheshwari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rcRect l="28109" t="6546" r="28551" b="49509"/>
          <a:stretch>
            <a:fillRect/>
          </a:stretch>
        </p:blipFill>
        <p:spPr>
          <a:xfrm>
            <a:off x="76243" y="4250428"/>
            <a:ext cx="375815" cy="38106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/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8"/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9"/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445" y="3463290"/>
          <a:ext cx="5376545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76545"/>
              </a:tblGrid>
              <a:tr h="3708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  <a:sym typeface="+mn-ea"/>
                        </a:rPr>
                        <a:t>AI-Powered Chatbots for Student Engagement and Academic Support</a:t>
                      </a:r>
                      <a:endParaRPr lang="en-IN" sz="1400" b="1" kern="1200" dirty="0">
                        <a:solidFill>
                          <a:srgbClr val="0D358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59" name="TextBox 43"/>
          <p:cNvSpPr txBox="1"/>
          <p:nvPr/>
        </p:nvSpPr>
        <p:spPr>
          <a:xfrm>
            <a:off x="4973955" y="4500880"/>
            <a:ext cx="1207770" cy="260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Swati Bhatt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39" y="1080603"/>
            <a:ext cx="4446761" cy="264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Statement/Proposed Solution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Freeform 28"/>
          <p:cNvSpPr/>
          <p:nvPr/>
        </p:nvSpPr>
        <p:spPr>
          <a:xfrm>
            <a:off x="6777990" y="948055"/>
            <a:ext cx="2209800" cy="3817620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87960" y="1069975"/>
            <a:ext cx="6670040" cy="2694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This project explores the use of AI-powered chatbots to enhance student engagement and academic support. Traditional communication methods often delay responses and burden faculty with repetitive queries.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By leveraging the Microsoft Bot Framework, Copilot, Power BI, and NLP, the chatbot provides instant, personalized answers, collects real-time feedback, and enables sentiment analysis.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 structured five-phase methodology—requirement analysis, chatbot design, integration, analytics, and deployment—ensures scalability and institutional relevance. 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8"/>
          <p:cNvSpPr/>
          <p:nvPr/>
        </p:nvSpPr>
        <p:spPr>
          <a:xfrm>
            <a:off x="6777990" y="948055"/>
            <a:ext cx="2209800" cy="319468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1940" y="1223010"/>
            <a:ext cx="6369685" cy="32677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/>
              <a:t>Expected outcomes include improved communication efficiency, reduced faculty workload, and interactive dashboards for monitoring engagement trends.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An extension of this work applies chatbot technology to performance appraisal systems, streamlining HR workflows and fostering transparency.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Overall, the project demonstrates how conversational AI can transform educational and organizational processes through efficiency, inclusivity, and data-driven insights.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682354" y="1034325"/>
            <a:ext cx="2868706" cy="3290047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Lato" panose="020F0502020204030203" pitchFamily="34" charset="0"/>
                <a:cs typeface="Arial" panose="020B0604020202020204" pitchFamily="34" charset="0"/>
              </a:rPr>
              <a:t>Objectives</a:t>
            </a:r>
            <a:endParaRPr lang="en-US" sz="2000" b="1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0335" y="1416685"/>
            <a:ext cx="5541645" cy="2774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Design chatbot for academic and administrative queries</a:t>
            </a: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Integrate NLP for accurate responses</a:t>
            </a: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Enable real-time feedback and sentiment analysis</a:t>
            </a: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Connect chatbot outputs with Power BI dashboards</a:t>
            </a: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Create scalable deployment framewor</a:t>
            </a: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ks.</a:t>
            </a:r>
            <a:r>
              <a:rPr sz="2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endParaRPr lang="en-US" sz="2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240" y="1351406"/>
            <a:ext cx="4762910" cy="24403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>
                <a:solidFill>
                  <a:srgbClr val="FFFFFF"/>
                </a:solidFill>
                <a:latin typeface="Calibri" panose="020F0502020204030204"/>
                <a:sym typeface="+mn-ea"/>
              </a:rPr>
              <a:t>• Delays in responses to student queries</a:t>
            </a:r>
            <a:endParaRPr b="0">
              <a:solidFill>
                <a:srgbClr val="FFFFFF"/>
              </a:solidFill>
              <a:latin typeface="Calibri" panose="020F0502020204030204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>
                <a:solidFill>
                  <a:srgbClr val="FFFFFF"/>
                </a:solidFill>
                <a:latin typeface="Calibri" panose="020F0502020204030204"/>
                <a:sym typeface="+mn-ea"/>
              </a:rPr>
              <a:t>• Inefficiencies in traditional communication channels</a:t>
            </a:r>
            <a:endParaRPr b="0">
              <a:solidFill>
                <a:srgbClr val="FFFFFF"/>
              </a:solidFill>
              <a:latin typeface="Calibri" panose="020F0502020204030204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>
                <a:solidFill>
                  <a:srgbClr val="FFFFFF"/>
                </a:solidFill>
                <a:latin typeface="Calibri" panose="020F0502020204030204"/>
                <a:sym typeface="+mn-ea"/>
              </a:rPr>
              <a:t>• Faculty burden due to repetitive queries</a:t>
            </a:r>
            <a:endParaRPr b="0">
              <a:solidFill>
                <a:srgbClr val="FFFFFF"/>
              </a:solidFill>
              <a:latin typeface="Calibri" panose="020F0502020204030204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>
                <a:solidFill>
                  <a:srgbClr val="FFFFFF"/>
                </a:solidFill>
                <a:latin typeface="Calibri" panose="020F0502020204030204"/>
                <a:sym typeface="+mn-ea"/>
              </a:rPr>
              <a:t>• Need for structured chatbot deployment framework</a:t>
            </a:r>
            <a:endParaRPr b="0">
              <a:solidFill>
                <a:srgbClr val="FFFFFF"/>
              </a:solidFill>
              <a:latin typeface="Calibri" panose="020F0502020204030204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3095" y="1176020"/>
            <a:ext cx="2047875" cy="29337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3" name="Text Box 2"/>
          <p:cNvSpPr txBox="1"/>
          <p:nvPr/>
        </p:nvSpPr>
        <p:spPr>
          <a:xfrm>
            <a:off x="102235" y="1056640"/>
            <a:ext cx="7611745" cy="390017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 b="1"/>
              <a:t>1.</a:t>
            </a:r>
            <a:r>
              <a:rPr lang="en-US" altLang="zh-CN" sz="1600"/>
              <a:t> </a:t>
            </a:r>
            <a:r>
              <a:rPr lang="en-US" altLang="zh-CN" sz="1600" b="1"/>
              <a:t>Data Input / Source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Gather student queries from FAQs, LMS, feedback forms, and administrative records.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Connect chatbot to institutional systems via APIs for real-time data access.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Use simulated datasets for chatbot training and testing.</a:t>
            </a:r>
            <a:endParaRPr lang="en-US" altLang="zh-CN" sz="1600"/>
          </a:p>
          <a:p>
            <a:r>
              <a:rPr lang="en-US" altLang="zh-CN" sz="1600" b="1"/>
              <a:t>2. Processing / Analysis</a:t>
            </a:r>
            <a:endParaRPr lang="en-US" altLang="zh-CN" sz="16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Clean and standardize data to remove duplicates and ensure consistency.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Apply NLP to classify queries and perform sentiment analysis.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Transform text into structured insights for visualization.</a:t>
            </a:r>
            <a:endParaRPr lang="en-US" altLang="zh-CN" sz="1600"/>
          </a:p>
          <a:p>
            <a:r>
              <a:rPr lang="en-US" altLang="zh-CN" sz="1600" b="1"/>
              <a:t>3. AI / Tool Integration</a:t>
            </a:r>
            <a:endParaRPr lang="en-US" altLang="zh-CN" sz="16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Microsoft Bot Framework: Manages conversation flows.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Copilot: Enhances natural language understanding.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Power BI: Visualizes chatbot logs and engagement metrics.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NLP Libraries: Enable semantic and contextual analysis.</a:t>
            </a:r>
            <a:endParaRPr lang="en-US" altLang="zh-CN" sz="1600"/>
          </a:p>
          <a:p>
            <a:r>
              <a:rPr lang="en-US" altLang="zh-CN" sz="1600" b="1"/>
              <a:t>4. Output / Dashboard</a:t>
            </a:r>
            <a:endParaRPr lang="en-US" altLang="zh-CN" sz="1600" b="1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**Chatbot Interface</a:t>
            </a:r>
            <a:endParaRPr lang="en-US" altLang="zh-CN" sz="1600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471805"/>
            <a:ext cx="9144000" cy="4457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865" y="1700530"/>
            <a:ext cx="4023360" cy="1275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Data Cleaning: Remove duplicates, standardize query formats, and anonymize sensitive student information.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Transformation: Convert raw text into structured intents and entities using NLP libraries.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Analysis: Apply sentiment analysis and pattern recognition to identify common concerns and engagement trends.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Tools: Power BI for visualization, Copilot for conversational flow refinement, and NLP models for language understanding.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7025" y="3427095"/>
            <a:ext cx="4023360" cy="14408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Microsoft Bot Framework: Core chatbot engine for conversation flows and intent handling.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Copilot: Enhances natural language responses and supports adaptive conversation design.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Power BI: Connects chatbot logs to dashboards for real-time monitoring of engagement metrics.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NLP Libraries: Enable semantic understanding, sentiment detection, and contextual response generation.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865" y="3427095"/>
            <a:ext cx="4023360" cy="14046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Reports: Automated summaries of student queries and feedback trends.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Charts: Visual representation of query categories, response times, and sentiment distribution.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Dashboards: Interactive Power BI dashboards showing engagement metrics, faculty workload reduction, and student satisfaction indicators.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000" dirty="0">
                <a:latin typeface="Lato" panose="020F0502020204030203" pitchFamily="34" charset="0"/>
                <a:cs typeface="Arial" panose="020B0604020202020204" pitchFamily="34" charset="0"/>
              </a:rPr>
              <a:t>- Scalability: Framework adaptable across courses and departments for institutional deployment.</a:t>
            </a: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1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5585" y="1700530"/>
            <a:ext cx="4251960" cy="124269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buFont typeface="Arial" panose="020B0604020202020204"/>
              <a:buChar char="•"/>
            </a:pPr>
            <a:r>
              <a:rPr lang="en-US" altLang="zh-CN" sz="1300"/>
              <a:t>Databases: Institutional LMS (Learning Management System) and administrative records.</a:t>
            </a:r>
            <a:endParaRPr lang="en-US" altLang="zh-CN" sz="1300"/>
          </a:p>
          <a:p>
            <a:pPr>
              <a:buFont typeface="Arial" panose="020B0604020202020204"/>
              <a:buChar char="•"/>
            </a:pPr>
            <a:r>
              <a:rPr lang="en-US" altLang="zh-CN" sz="1300"/>
              <a:t>APIs: Integration with Microsoft Bot Framework APIs for chatbot communication.</a:t>
            </a:r>
            <a:endParaRPr lang="en-US" altLang="zh-CN" sz="1300"/>
          </a:p>
          <a:p>
            <a:pPr>
              <a:buFont typeface="Arial" panose="020B0604020202020204"/>
              <a:buChar char="•"/>
            </a:pPr>
            <a:r>
              <a:rPr lang="en-US" altLang="zh-CN" sz="1300"/>
              <a:t>Uploads: Simulated datasets for chatbot training and testing.</a:t>
            </a:r>
            <a:endParaRPr lang="en-US" altLang="zh-CN" sz="13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1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730" y="946150"/>
            <a:ext cx="6955155" cy="3879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The proposed AI-powered chatbot offers a structured, scalable solution to improve student engagement and academic support. By integrating Microsoft Bot Framework, Copilot, Power BI, and NLP libraries, the system ensures instant query resolution, real-time feedback collection, and actionable insights through interactive dashboards. 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This reduces repetitive faculty workload, enhances communication efficiency, and empowers institutions with data-driven decision-making. 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Beyond education, the extension into performance appraisal systems highlights the broader applicability of conversational AI in streamlining workflows, fostering transparency, and supporting continuous improvement. 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Overall, the project demonstrates how AI-driven chatbots can transform traditional processes into efficient, inclusive, and intelligent systems.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7094855" y="1793240"/>
            <a:ext cx="1870075" cy="21844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440841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190" y="1052195"/>
            <a:ext cx="7233920" cy="29686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b="1" dirty="0">
                <a:latin typeface="Lato" panose="020F0502020204030203" pitchFamily="34" charset="0"/>
                <a:cs typeface="Arial" panose="020B0604020202020204" pitchFamily="34" charset="0"/>
              </a:rPr>
              <a:t>1. Feature Enhancements</a:t>
            </a:r>
            <a:endParaRPr lang="en-US" altLang="en-US" b="1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- Incorporate voice-enabled chatbot interactions for accessibility and inclusivity.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- Add multilingual support to cater to diverse student populations.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- Enable predictive analytics to anticipate student needs and proactively suggest resources.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Lato" panose="020F0502020204030203" pitchFamily="34" charset="0"/>
                <a:cs typeface="Arial" panose="020B0604020202020204" pitchFamily="34" charset="0"/>
              </a:rPr>
              <a:t>2. Scalability Plans</a:t>
            </a:r>
            <a:endParaRPr lang="en-US" altLang="en-US" b="1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- Expand deployment across multiple courses, departments, and institutions.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- Integrate chatbot services into mobile apps and learning platforms for wider reach.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</a:rPr>
              <a:t>- Support cloud-based hosting for seamless scaling and performance optimization.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395" y="879475"/>
            <a:ext cx="2808605" cy="33845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4455" y="725805"/>
            <a:ext cx="643636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US" b="1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3. Integration Possibilities</a:t>
            </a:r>
            <a:endParaRPr lang="en-US" altLang="en-US" b="1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- Connect with Learning Management Systems (LMS) for real-time academic updates.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- Link with HR and performance management systems for appraisal workflows.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- Integrate with social media platforms to enhance student engagement outside classrooms.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4. Further Research Areas</a:t>
            </a:r>
            <a:endParaRPr lang="en-US" altLang="en-US" b="1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- Explore AI ethics and data privacy frameworks for secure chatbot interactions.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- Study student behavioral analytics to improve personalization.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Lato" panose="020F0502020204030203" pitchFamily="34" charset="0"/>
                <a:cs typeface="Arial" panose="020B0604020202020204" pitchFamily="34" charset="0"/>
                <a:sym typeface="+mn-ea"/>
              </a:rPr>
              <a:t>- Investigate AI-driven adaptive learning models that tailor content based on student progress.</a:t>
            </a:r>
            <a:endParaRPr lang="en-US" altLang="en-US" dirty="0">
              <a:latin typeface="Lato" panose="020F0502020204030203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033780"/>
            <a:ext cx="2484120" cy="3384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5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  <a:endParaRPr lang="en-US" sz="5000" b="1" dirty="0">
              <a:solidFill>
                <a:srgbClr val="0D358D"/>
              </a:solidFill>
              <a:latin typeface="Lato" panose="020F0502020204030203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DESIGN_ID_OFFICE THEME" val="ROGxgyxs"/>
  <p:tag name="ARTICULATE_PROJECT_OPEN" val="0"/>
  <p:tag name="ARTICULATE_SLIDE_COUNT" val="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6596</Words>
  <Application>WPS Presentation</Application>
  <PresentationFormat>On-screen Show (16:9)</PresentationFormat>
  <Paragraphs>177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Aileron Bold</vt:lpstr>
      <vt:lpstr>Segoe Print</vt:lpstr>
      <vt:lpstr>Aileron</vt:lpstr>
      <vt:lpstr>Calibri</vt:lpstr>
      <vt:lpstr>Lato</vt:lpstr>
      <vt:lpstr>Calibri</vt:lpstr>
      <vt:lpstr>Calibri</vt:lpstr>
      <vt:lpstr>Times New Roman</vt:lpstr>
      <vt:lpstr>Arial</vt:lpstr>
      <vt:lpstr>Calibri</vt:lpstr>
      <vt:lpstr>Aileron Ultra-Bold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creator>PptxGenJS</dc:creator>
  <dc:subject>PptxGenJS Presentation</dc:subject>
  <cp:lastModifiedBy>Swati Bhatt</cp:lastModifiedBy>
  <cp:revision>41</cp:revision>
  <dcterms:created xsi:type="dcterms:W3CDTF">2026-02-18T09:17:00Z</dcterms:created>
  <dcterms:modified xsi:type="dcterms:W3CDTF">2026-04-18T07:56:25Z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  <property fmtid="{D5CDD505-2E9C-101B-9397-08002B2CF9AE}" pid="4" name="KSOProductBuildVer">
    <vt:lpwstr>1033-12.1.0.25242</vt:lpwstr>
  </property>
  <property fmtid="{D5CDD505-2E9C-101B-9397-08002B2CF9AE}" pid="5" name="ICV">
    <vt:lpwstr>E612D7E760A94847B527A87C002AFA4A_13</vt:lpwstr>
  </property>
</Properties>
</file>